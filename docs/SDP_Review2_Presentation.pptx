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629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00D4FF"/>
                </a:solidFill>
              </a:defRPr>
            </a:pPr>
            <a:r>
              <a:t>Smart Contract Auditor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3774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0E0"/>
                </a:solidFill>
              </a:defRPr>
            </a:pPr>
            <a:r>
              <a:t>AI-Powered Vulnerability Detection for Solidity Smart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91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A0A0B0"/>
                </a:solidFill>
              </a:defRPr>
            </a:pPr>
            <a:r>
              <a:t>Leveraging Static Analysis • Control-Flow Graphs • Taint Propagation •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C5CFF"/>
                </a:solidFill>
              </a:defRPr>
            </a:pPr>
            <a:r>
              <a:t>Software Design Project — Review 2 (Final)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0A0B0"/>
                </a:solidFill>
              </a:defRPr>
            </a:pPr>
            <a:r>
              <a:rPr dirty="0"/>
              <a:t>Guide: </a:t>
            </a:r>
            <a:r>
              <a:rPr lang="en-IN" dirty="0"/>
              <a:t>Dr. Karthika </a:t>
            </a:r>
            <a:r>
              <a:rPr lang="en-IN" dirty="0" err="1"/>
              <a:t>Natarjan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5486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</a:defRPr>
            </a:pPr>
            <a:r>
              <a:t>Department of Computer Science and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Problem &amp; 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▸  </a:t>
            </a:r>
            <a:r>
              <a:rPr sz="1500">
                <a:solidFill>
                  <a:srgbClr val="E0E0E0"/>
                </a:solidFill>
              </a:rPr>
              <a:t>DeFi ecosystems hold billions in Total Value Locked (TVL) — a single smart contract bug can drain entire protocols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▸  </a:t>
            </a:r>
            <a:r>
              <a:rPr sz="1500">
                <a:solidFill>
                  <a:srgbClr val="E0E0E0"/>
                </a:solidFill>
              </a:rPr>
              <a:t>$3.8 Billion lost to blockchain exploits in 2022 alone (Chainalysis Report)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▸  </a:t>
            </a:r>
            <a:r>
              <a:rPr sz="1500">
                <a:solidFill>
                  <a:srgbClr val="E0E0E0"/>
                </a:solidFill>
              </a:rPr>
              <a:t>Traditional audit tools like Slither and Mythril suffer from high false-positive rates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▸  </a:t>
            </a:r>
            <a:r>
              <a:rPr sz="1500">
                <a:solidFill>
                  <a:srgbClr val="E0E0E0"/>
                </a:solidFill>
              </a:rPr>
              <a:t>Manual audits cost $5K–$50K+ and take weeks — infeasible for most developers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▸  </a:t>
            </a:r>
            <a:r>
              <a:rPr sz="1500">
                <a:solidFill>
                  <a:srgbClr val="E0E0E0"/>
                </a:solidFill>
              </a:rPr>
              <a:t>Gap: No open tool combines hybrid analysis, ML-based ranking, and human-readable explanations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▸  </a:t>
            </a:r>
            <a:r>
              <a:rPr sz="1500">
                <a:solidFill>
                  <a:srgbClr val="E0E0E0"/>
                </a:solidFill>
              </a:rPr>
              <a:t>Our Goal: Build an end-to-end AI auditor that is accurate, explainable, and accessible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029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A502"/>
                </a:solidFill>
              </a:defRPr>
            </a:pPr>
            <a:r>
              <a:t>"Security must be automated, explainable, and affordable for Web3 to scale."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Review 1 Recap → What’s New in Review 2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D573"/>
                </a:solidFill>
              </a:defRPr>
            </a:pPr>
            <a:r>
              <a:t>Review 1 (Completed)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D573"/>
                </a:solidFill>
              </a:rPr>
              <a:t>✓  </a:t>
            </a:r>
            <a:r>
              <a:rPr sz="1300">
                <a:solidFill>
                  <a:srgbClr val="A0A0B0"/>
                </a:solidFill>
              </a:rPr>
              <a:t>15-rule Static Analyzer (regex pattern matching)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957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D573"/>
                </a:solidFill>
              </a:rPr>
              <a:t>✓  </a:t>
            </a:r>
            <a:r>
              <a:rPr sz="1300">
                <a:solidFill>
                  <a:srgbClr val="A0A0B0"/>
                </a:solidFill>
              </a:rPr>
              <a:t>ML Classifier with heuristic-based scoring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77977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D573"/>
                </a:solidFill>
              </a:rPr>
              <a:t>✓  </a:t>
            </a:r>
            <a:r>
              <a:rPr sz="1300">
                <a:solidFill>
                  <a:srgbClr val="A0A0B0"/>
                </a:solidFill>
              </a:rPr>
              <a:t>Explainability Engine (attack scenarios, fix examples)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638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D573"/>
                </a:solidFill>
              </a:rPr>
              <a:t>✓  </a:t>
            </a:r>
            <a:r>
              <a:rPr sz="1300">
                <a:solidFill>
                  <a:srgbClr val="A0A0B0"/>
                </a:solidFill>
              </a:rPr>
              <a:t>FastAPI REST API + React 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478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D573"/>
                </a:solidFill>
              </a:rPr>
              <a:t>✓  </a:t>
            </a:r>
            <a:r>
              <a:rPr sz="1300">
                <a:solidFill>
                  <a:srgbClr val="A0A0B0"/>
                </a:solidFill>
              </a:rPr>
              <a:t>CLI tool for batch scanning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2ED573"/>
                </a:solidFill>
              </a:rPr>
              <a:t>✓  </a:t>
            </a:r>
            <a:r>
              <a:rPr sz="1300">
                <a:solidFill>
                  <a:srgbClr val="A0A0B0"/>
                </a:solidFill>
              </a:rPr>
              <a:t>HTML &amp; JSON report generation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4FF"/>
                </a:solidFill>
              </a:defRPr>
            </a:pPr>
            <a:r>
              <a:t>Review 2 (New)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0116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4FF"/>
                </a:solidFill>
              </a:rPr>
              <a:t>★  </a:t>
            </a:r>
            <a:r>
              <a:rPr sz="1300">
                <a:solidFill>
                  <a:srgbClr val="E0E0E0"/>
                </a:solidFill>
              </a:rPr>
              <a:t>Control-Flow Graph (CFG) Analyzer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395728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4FF"/>
                </a:solidFill>
              </a:rPr>
              <a:t>★  </a:t>
            </a:r>
            <a:r>
              <a:rPr sz="1300">
                <a:solidFill>
                  <a:srgbClr val="E0E0E0"/>
                </a:solidFill>
              </a:rPr>
              <a:t>Inter-procedural Taint Propagation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779776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4FF"/>
                </a:solidFill>
              </a:rPr>
              <a:t>★  </a:t>
            </a:r>
            <a:r>
              <a:rPr sz="1300">
                <a:solidFill>
                  <a:srgbClr val="E0E0E0"/>
                </a:solidFill>
              </a:rPr>
              <a:t>Gas Optimization Analyzer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163824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4FF"/>
                </a:solidFill>
              </a:rPr>
              <a:t>★  </a:t>
            </a:r>
            <a:r>
              <a:rPr sz="1300">
                <a:solidFill>
                  <a:srgbClr val="E0E0E0"/>
                </a:solidFill>
              </a:rPr>
              <a:t>Comprehensive Test Suite (8 test modules)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47872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4FF"/>
                </a:solidFill>
              </a:rPr>
              <a:t>★  </a:t>
            </a:r>
            <a:r>
              <a:rPr sz="1300">
                <a:solidFill>
                  <a:srgbClr val="E0E0E0"/>
                </a:solidFill>
              </a:rPr>
              <a:t>Edge-case &amp; regression testing library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93192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4FF"/>
                </a:solidFill>
              </a:rPr>
              <a:t>★  </a:t>
            </a:r>
            <a:r>
              <a:rPr sz="1300">
                <a:solidFill>
                  <a:srgbClr val="E0E0E0"/>
                </a:solidFill>
              </a:rPr>
              <a:t>Docker containerisation (multi-service)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754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A502"/>
                </a:solidFill>
              </a:defRPr>
            </a:pPr>
            <a:r>
              <a:t>Analysis depth increased from single-pass regex to multi-layer graph-based + data-flow detection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Final 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A0B0"/>
                </a:solidFill>
              </a:defRPr>
            </a:pPr>
            <a:r>
              <a:t>User Interfaces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828800"/>
            <a:ext cx="3383280" cy="100584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90FF"/>
                </a:solidFill>
              </a:defRPr>
            </a:pPr>
            <a:r>
              <a:t>React Frontend</a:t>
            </a:r>
          </a:p>
          <a:p>
            <a:pPr algn="ctr">
              <a:defRPr sz="1100" b="0">
                <a:solidFill>
                  <a:srgbClr val="A0A0B0"/>
                </a:solidFill>
              </a:defRPr>
            </a:pPr>
            <a:r>
              <a:t>(Dark-theme Dashboard)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3383280" cy="100584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7C5CFF"/>
                </a:solidFill>
              </a:defRPr>
            </a:pPr>
            <a:r>
              <a:t>FastAPI REST API</a:t>
            </a:r>
          </a:p>
          <a:p>
            <a:pPr algn="ctr">
              <a:defRPr sz="1100" b="0">
                <a:solidFill>
                  <a:srgbClr val="A0A0B0"/>
                </a:solidFill>
              </a:defRPr>
            </a:pPr>
            <a:r>
              <a:t>(/analyze, /batch, /report)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955279" y="1828800"/>
            <a:ext cx="3383280" cy="100584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A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A0A0B0"/>
                </a:solidFill>
              </a:defRPr>
            </a:pPr>
            <a:r>
              <a:t>CLI Tool</a:t>
            </a:r>
          </a:p>
          <a:p>
            <a:pPr algn="ctr">
              <a:defRPr sz="1100" b="0">
                <a:solidFill>
                  <a:srgbClr val="A0A0B0"/>
                </a:solidFill>
              </a:defRPr>
            </a:pPr>
            <a:r>
              <a:t>(Single &amp; Batch Scanning)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A0B0"/>
                </a:solidFill>
              </a:defRPr>
            </a:pPr>
            <a:r>
              <a:t>Core Analysis Pipeline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383280"/>
            <a:ext cx="237744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6B35"/>
                </a:solidFill>
              </a:defRPr>
            </a:pPr>
            <a:r>
              <a:t>Static Analyzer</a:t>
            </a:r>
          </a:p>
          <a:p>
            <a:pPr algn="ctr">
              <a:defRPr sz="1100" b="0">
                <a:solidFill>
                  <a:srgbClr val="A0A0B0"/>
                </a:solidFill>
              </a:defRPr>
            </a:pPr>
            <a:r>
              <a:t>(15 SWC Rules)</a:t>
            </a:r>
          </a:p>
          <a:p>
            <a:pPr algn="ctr">
              <a:defRPr sz="1000">
                <a:solidFill>
                  <a:srgbClr val="A0A0B0"/>
                </a:solidFill>
              </a:defRPr>
            </a:pPr>
            <a:r>
              <a:t>Regex-based</a:t>
            </a:r>
          </a:p>
          <a:p>
            <a:pPr algn="ctr">
              <a:defRPr sz="1000">
                <a:solidFill>
                  <a:srgbClr val="A0A0B0"/>
                </a:solidFill>
              </a:defRPr>
            </a:pPr>
            <a:r>
              <a:t>pattern detection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3383280"/>
            <a:ext cx="237744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2ED573"/>
                </a:solidFill>
              </a:defRPr>
            </a:pPr>
            <a:r>
              <a:t>CFG Analyzer</a:t>
            </a:r>
          </a:p>
          <a:p>
            <a:pPr algn="ctr">
              <a:defRPr sz="1100" b="0">
                <a:solidFill>
                  <a:srgbClr val="A0A0B0"/>
                </a:solidFill>
              </a:defRPr>
            </a:pPr>
            <a:r>
              <a:t>(Control-Flow Graphs)</a:t>
            </a:r>
          </a:p>
          <a:p>
            <a:pPr algn="ctr">
              <a:defRPr sz="1000">
                <a:solidFill>
                  <a:srgbClr val="A0A0B0"/>
                </a:solidFill>
              </a:defRPr>
            </a:pPr>
            <a:r>
              <a:t>Path-sensitive</a:t>
            </a:r>
          </a:p>
          <a:p>
            <a:pPr algn="ctr">
              <a:defRPr sz="1000">
                <a:solidFill>
                  <a:srgbClr val="A0A0B0"/>
                </a:solidFill>
              </a:defRPr>
            </a:pPr>
            <a:r>
              <a:t>vulnerability tracking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577840" y="3383280"/>
            <a:ext cx="237744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4757"/>
                </a:solidFill>
              </a:defRPr>
            </a:pPr>
            <a:r>
              <a:t>Taint Analyzer</a:t>
            </a:r>
          </a:p>
          <a:p>
            <a:pPr algn="ctr">
              <a:defRPr sz="1100" b="0">
                <a:solidFill>
                  <a:srgbClr val="A0A0B0"/>
                </a:solidFill>
              </a:defRPr>
            </a:pPr>
            <a:r>
              <a:t>(Data-Flow Tracking)</a:t>
            </a:r>
          </a:p>
          <a:p>
            <a:pPr algn="ctr">
              <a:defRPr sz="1000">
                <a:solidFill>
                  <a:srgbClr val="A0A0B0"/>
                </a:solidFill>
              </a:defRPr>
            </a:pPr>
            <a:r>
              <a:t>Source-to-Sink</a:t>
            </a:r>
          </a:p>
          <a:p>
            <a:pPr algn="ctr">
              <a:defRPr sz="1000">
                <a:solidFill>
                  <a:srgbClr val="A0A0B0"/>
                </a:solidFill>
              </a:defRPr>
            </a:pPr>
            <a:r>
              <a:t>propagation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3383280"/>
            <a:ext cx="3200400" cy="118872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A502"/>
                </a:solidFill>
              </a:defRPr>
            </a:pPr>
            <a:r>
              <a:t>ML Classifier</a:t>
            </a:r>
          </a:p>
          <a:p>
            <a:pPr algn="ctr">
              <a:defRPr sz="1100" b="0">
                <a:solidFill>
                  <a:srgbClr val="A0A0B0"/>
                </a:solidFill>
              </a:defRPr>
            </a:pPr>
            <a:r>
              <a:t>(Risk Scoring)</a:t>
            </a:r>
          </a:p>
          <a:p>
            <a:pPr algn="ctr">
              <a:defRPr sz="1000">
                <a:solidFill>
                  <a:srgbClr val="A0A0B0"/>
                </a:solidFill>
              </a:defRPr>
            </a:pPr>
            <a:r>
              <a:t>20-feature extraction</a:t>
            </a:r>
          </a:p>
          <a:p>
            <a:pPr algn="ctr">
              <a:defRPr sz="1000">
                <a:solidFill>
                  <a:srgbClr val="A0A0B0"/>
                </a:solidFill>
              </a:defRPr>
            </a:pPr>
            <a:r>
              <a:t>hybrid confidence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0A0B0"/>
                </a:solidFill>
              </a:defRPr>
            </a:pPr>
            <a:r>
              <a:t>Post-Processing &amp; Output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120640"/>
            <a:ext cx="2743200" cy="9144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00D4FF"/>
                </a:solidFill>
              </a:defRPr>
            </a:pPr>
            <a:r>
              <a:t>Explainability Engine</a:t>
            </a:r>
          </a:p>
          <a:p>
            <a:pPr algn="ctr">
              <a:defRPr sz="1000">
                <a:solidFill>
                  <a:srgbClr val="A0A0B0"/>
                </a:solidFill>
              </a:defRPr>
            </a:pPr>
            <a:r>
              <a:t>Attack narratives + fix examples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5120640"/>
            <a:ext cx="2743200" cy="9144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7C5CFF"/>
                </a:solidFill>
              </a:defRPr>
            </a:pPr>
            <a:r>
              <a:t>Report Generator</a:t>
            </a:r>
          </a:p>
          <a:p>
            <a:pPr algn="ctr">
              <a:defRPr sz="1000">
                <a:solidFill>
                  <a:srgbClr val="A0A0B0"/>
                </a:solidFill>
              </a:defRPr>
            </a:pPr>
            <a:r>
              <a:t>HTML • JSON • Text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5120640"/>
            <a:ext cx="2560320" cy="9144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1E90FF"/>
                </a:solidFill>
              </a:defRPr>
            </a:pPr>
            <a:r>
              <a:t>Gas Optimizer</a:t>
            </a:r>
          </a:p>
          <a:p>
            <a:pPr algn="ctr">
              <a:defRPr sz="1000">
                <a:solidFill>
                  <a:srgbClr val="A0A0B0"/>
                </a:solidFill>
              </a:defRPr>
            </a:pPr>
            <a:r>
              <a:t>Efficiency scoring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5120640"/>
            <a:ext cx="2103120" cy="91440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A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A0A0B0"/>
                </a:solidFill>
              </a:defRPr>
            </a:pPr>
            <a:r>
              <a:t>Analysis Store</a:t>
            </a:r>
          </a:p>
          <a:p>
            <a:pPr algn="ctr">
              <a:defRPr sz="1000">
                <a:solidFill>
                  <a:srgbClr val="A0A0B0"/>
                </a:solidFill>
              </a:defRPr>
            </a:pPr>
            <a:r>
              <a:t>In-memory / DB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NEW: Control-Flow Graph (CFG) Analyzer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12801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62763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D573"/>
                </a:solidFill>
              </a:defRPr>
            </a:pPr>
            <a:r>
              <a:t>What is a CFG?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40"/>
            <a:ext cx="9601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A directed graph where each node represents a basic block of code (assignment, branch, loop, external call) and edges represent possible execution paths. This enables path-sensitive vulnerability detection that regex pattern matching alone cannot achieve.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108960"/>
            <a:ext cx="10515600" cy="12801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318211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D573"/>
                </a:solidFill>
              </a:defRPr>
            </a:pPr>
            <a:r>
              <a:t>How We Build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474720"/>
            <a:ext cx="9601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1.  Extract every function from the contract source</a:t>
            </a:r>
            <a:br/>
            <a:r>
              <a:t>2.  Tokenise each function body into basic blocks (entry, branch, loop, call, exit)</a:t>
            </a:r>
            <a:br/>
            <a:r>
              <a:t>3.  Link blocks via successor / predecessor edges based on control-flow semantics</a:t>
            </a:r>
            <a:br/>
            <a:r>
              <a:t>4.  Annotate nodes with properties: external_call, state_change, ether_transfer, access_control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63440"/>
            <a:ext cx="10515600" cy="12801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736592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D573"/>
                </a:solidFill>
              </a:defRPr>
            </a:pPr>
            <a:r>
              <a:t>Path-Sensitive Detection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5029200"/>
            <a:ext cx="96012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• Reentrancy: external call node reachable before state-change node on the same path</a:t>
            </a:r>
            <a:br/>
            <a:r>
              <a:t>• Unguarded Ether Transfer: transfer node without an access-control predecessor</a:t>
            </a:r>
            <a:br/>
            <a:r>
              <a:t>• Cyclomatic Complexity: high branching factor → higher bug likelihood</a:t>
            </a:r>
            <a:br/>
            <a:r>
              <a:t>• Unreachable Code: nodes with no predecessors after entry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NEW: Inter-Procedural Taint Propagation Engine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515600" cy="1051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6362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757"/>
                </a:solidFill>
              </a:defRPr>
            </a:pPr>
            <a:r>
              <a:t>Concept: Source → Propagation → Sink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37944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Taint analysis tracks how untrusted (user-controlled) data flows through the contract. If attacker-controlled data reaches a dangerous operation without sanitisation, that data path constitutes a vulnerability.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743200"/>
            <a:ext cx="10515600" cy="1051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79806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757"/>
                </a:solidFill>
              </a:defRPr>
            </a:pPr>
            <a:r>
              <a:t>Sources (Untrusted Inputs)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72384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msg.sender • msg.value • msg.data • tx.origin • function parameters • calldataload • external call return values</a:t>
            </a:r>
            <a:br/>
            <a:r>
              <a:t>Each source is tagged with a provenance label for traceability.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77640"/>
            <a:ext cx="10515600" cy="1051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403250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757"/>
                </a:solidFill>
              </a:defRPr>
            </a:pPr>
            <a:r>
              <a:t>Sinks (Dangerous Operations)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306824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Ether transfer (.transfer / .send / .call{value}) • delegatecall target • selfdestruct beneficiary</a:t>
            </a:r>
            <a:br/>
            <a:r>
              <a:t>Unchecked storage writes • Array index without bounds check • Attacker-controlled guards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212080"/>
            <a:ext cx="10515600" cy="1051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5266944"/>
            <a:ext cx="9601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757"/>
                </a:solidFill>
              </a:defRPr>
            </a:pPr>
            <a:r>
              <a:t>Sanitisers &amp; False-Positive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41264"/>
            <a:ext cx="9601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require(), assert(), if-checks, and revert() are recognised as sanitisers. If a sanitiser sits between a source and a sink on the data-flow path, the finding is suppressed — significantly reducing false positives compared to pattern-only tools.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Hybrid Analysis Pipeline — How It All Fits Together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rgbClr val="1E9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0F23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1E90FF"/>
                </a:solidFill>
              </a:defRPr>
            </a:pPr>
            <a:r>
              <a:t>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55448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Solidity source code uploaded via Web UI, API, or CLI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258568"/>
            <a:ext cx="411480" cy="411480"/>
          </a:xfrm>
          <a:prstGeom prst="ellipse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0F23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2212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6B35"/>
                </a:solidFill>
              </a:defRPr>
            </a:pPr>
            <a:r>
              <a:t>Static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221284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15 SWC rule-based pattern detectors scan for known vulnerability signatures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2916936"/>
            <a:ext cx="411480" cy="411480"/>
          </a:xfrm>
          <a:prstGeom prst="ellipse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0F23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287121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D573"/>
                </a:solidFill>
              </a:defRPr>
            </a:pPr>
            <a:r>
              <a:t>CFG Construction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871216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Build control-flow graphs per function; annotate nodes with security properties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3575304"/>
            <a:ext cx="411480" cy="411480"/>
          </a:xfrm>
          <a:prstGeom prst="ellipse">
            <a:avLst/>
          </a:prstGeom>
          <a:solidFill>
            <a:srgbClr val="FF47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0F23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352958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4757"/>
                </a:solidFill>
              </a:defRPr>
            </a:pPr>
            <a:r>
              <a:t>Taint Propagation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3529584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Track untrusted inputs from sources through assignments to dangerous sinks</a:t>
            </a:r>
          </a:p>
        </p:txBody>
      </p:sp>
      <p:sp>
        <p:nvSpPr>
          <p:cNvPr id="16" name="Oval 15"/>
          <p:cNvSpPr/>
          <p:nvPr/>
        </p:nvSpPr>
        <p:spPr>
          <a:xfrm>
            <a:off x="731520" y="4233672"/>
            <a:ext cx="411480" cy="411480"/>
          </a:xfrm>
          <a:prstGeom prst="ellipse">
            <a:avLst/>
          </a:prstGeom>
          <a:solidFill>
            <a:srgbClr val="FFA50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0F23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71600" y="41879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2"/>
                </a:solidFill>
              </a:defRPr>
            </a:pPr>
            <a:r>
              <a:t>ML Classification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4187952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Extract 20 code features → predict across 10 vulnerability classes</a:t>
            </a:r>
          </a:p>
        </p:txBody>
      </p:sp>
      <p:sp>
        <p:nvSpPr>
          <p:cNvPr id="19" name="Oval 18"/>
          <p:cNvSpPr/>
          <p:nvPr/>
        </p:nvSpPr>
        <p:spPr>
          <a:xfrm>
            <a:off x="731520" y="4892039"/>
            <a:ext cx="411480" cy="411480"/>
          </a:xfrm>
          <a:prstGeom prst="ellipse">
            <a:avLst/>
          </a:prstGeom>
          <a:solidFill>
            <a:srgbClr val="7C5C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0F23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46319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5CFF"/>
                </a:solidFill>
              </a:defRPr>
            </a:pPr>
            <a:r>
              <a:t>Merge &amp; Rank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4846319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Combine results: 60% static + 40% ML confidence; deduplicate; sort by severity</a:t>
            </a:r>
          </a:p>
        </p:txBody>
      </p:sp>
      <p:sp>
        <p:nvSpPr>
          <p:cNvPr id="22" name="Oval 21"/>
          <p:cNvSpPr/>
          <p:nvPr/>
        </p:nvSpPr>
        <p:spPr>
          <a:xfrm>
            <a:off x="731520" y="5550408"/>
            <a:ext cx="411480" cy="411480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0F0F23"/>
                </a:solidFill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71600" y="550468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Explain &amp;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5504688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Generate attack narratives, fix examples, SWC references; export HTML/JSON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A502"/>
                </a:solidFill>
              </a:defRPr>
            </a:pPr>
            <a:r>
              <a:t>Multi-layer approach catches vulnerabilities that any single technique would miss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ML Feature Extraction &amp; Vulnerability Classification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20 Features Extracted from Solidity Code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30352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1E90FF"/>
                </a:solidFill>
              </a:rPr>
              <a:t>Code Complexity: </a:t>
            </a:r>
            <a:r>
              <a:rPr sz="1100">
                <a:solidFill>
                  <a:srgbClr val="A0A0B0"/>
                </a:solidFill>
              </a:rPr>
              <a:t>LOC, function count, modifier count, event count, mapping count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697480"/>
            <a:ext cx="530352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2ED573"/>
                </a:solidFill>
              </a:rPr>
              <a:t>Control Flow: </a:t>
            </a:r>
            <a:r>
              <a:rPr sz="1100">
                <a:solidFill>
                  <a:srgbClr val="A0A0B0"/>
                </a:solidFill>
              </a:rPr>
              <a:t>require() count, assert() count, loop count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530352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4757"/>
                </a:solidFill>
              </a:rPr>
              <a:t>External Interactions: </a:t>
            </a:r>
            <a:r>
              <a:rPr sz="1100">
                <a:solidFill>
                  <a:srgbClr val="A0A0B0"/>
                </a:solidFill>
              </a:rPr>
              <a:t>external call count, transfer count, send count, delegatecall count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30352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FF6B35"/>
                </a:solidFill>
              </a:rPr>
              <a:t>Security Patterns: </a:t>
            </a:r>
            <a:r>
              <a:rPr sz="1100">
                <a:solidFill>
                  <a:srgbClr val="A0A0B0"/>
                </a:solidFill>
              </a:rPr>
              <a:t>ReentrancyGuard, Ownable, SafeMath usage, tx.origin, selfdestruct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754880"/>
            <a:ext cx="530352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200" b="1">
                <a:solidFill>
                  <a:srgbClr val="7C5CFF"/>
                </a:solidFill>
              </a:rPr>
              <a:t>Solidity Metadata: </a:t>
            </a:r>
            <a:r>
              <a:rPr sz="1100">
                <a:solidFill>
                  <a:srgbClr val="A0A0B0"/>
                </a:solidFill>
              </a:rPr>
              <a:t>Version safety flag, floating pragma flag, state variable count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463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4FF"/>
                </a:solidFill>
              </a:defRPr>
            </a:pPr>
            <a:r>
              <a:t>Hybrid Confidence Scoring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1031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2"/>
                </a:solidFill>
              </a:rPr>
              <a:t>▸  </a:t>
            </a:r>
            <a:r>
              <a:rPr sz="1300">
                <a:solidFill>
                  <a:srgbClr val="E0E0E0"/>
                </a:solidFill>
              </a:rPr>
              <a:t>10 vulnerability classes predicted simultaneously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606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2"/>
                </a:solidFill>
              </a:rPr>
              <a:t>▸  </a:t>
            </a:r>
            <a:r>
              <a:rPr sz="1300">
                <a:solidFill>
                  <a:srgbClr val="E0E0E0"/>
                </a:solidFill>
              </a:rPr>
              <a:t>Heuristic scoring calibrated by domain experts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31089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2"/>
                </a:solidFill>
              </a:rPr>
              <a:t>▸  </a:t>
            </a:r>
            <a:r>
              <a:rPr sz="1300">
                <a:solidFill>
                  <a:srgbClr val="E0E0E0"/>
                </a:solidFill>
              </a:rPr>
              <a:t>Combined: 60% Static + 40% ML confidence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36118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2"/>
                </a:solidFill>
              </a:rPr>
              <a:t>▸  </a:t>
            </a:r>
            <a:r>
              <a:rPr sz="1300">
                <a:solidFill>
                  <a:srgbClr val="E0E0E0"/>
                </a:solidFill>
              </a:rPr>
              <a:t>ML-only findings added when confidence &gt; 0.6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1148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2"/>
                </a:solidFill>
              </a:rPr>
              <a:t>▸  </a:t>
            </a:r>
            <a:r>
              <a:rPr sz="1300">
                <a:solidFill>
                  <a:srgbClr val="E0E0E0"/>
                </a:solidFill>
              </a:rPr>
              <a:t>Severity dynamically adjusted by final score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4617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FA502"/>
                </a:solidFill>
              </a:rPr>
              <a:t>▸  </a:t>
            </a:r>
            <a:r>
              <a:rPr sz="1300">
                <a:solidFill>
                  <a:srgbClr val="E0E0E0"/>
                </a:solidFill>
              </a:rPr>
              <a:t>Results sorted by descending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7607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</a:defRPr>
            </a:pPr>
            <a:r>
              <a:t>Severity Thresholds:  Critical ≥ 0.85  |  High ≥ 0.70  |  Medium ≥ 0.50  |  Low ≥ 0.30  |  Info &lt; 0.30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rPr dirty="0"/>
              <a:t>Comprehensive Vulnerability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</a:defRPr>
            </a:pPr>
            <a:r>
              <a:t>SWC ID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0312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</a:defRPr>
            </a:pPr>
            <a:r>
              <a:t>Vulnerability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</a:defRPr>
            </a:pPr>
            <a:r>
              <a:t>Severity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</a:defRPr>
            </a:pPr>
            <a:r>
              <a:t>Detection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288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SWC-107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103120" y="18288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Reentrancy (CEI Violation)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182880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4757"/>
                </a:solidFill>
              </a:defRPr>
            </a:pPr>
            <a:r>
              <a:rPr lang="en-IN" dirty="0"/>
              <a:t>Extreme</a:t>
            </a:r>
            <a:endParaRPr dirty="0"/>
          </a:p>
        </p:txBody>
      </p:sp>
      <p:sp>
        <p:nvSpPr>
          <p:cNvPr id="11" name="TextBox 10"/>
          <p:cNvSpPr txBox="1"/>
          <p:nvPr/>
        </p:nvSpPr>
        <p:spPr>
          <a:xfrm>
            <a:off x="804672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90FF"/>
                </a:solidFill>
              </a:defRPr>
            </a:pPr>
            <a:r>
              <a:t>Static + CFG + Taint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1945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SWC-101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03120" y="21945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Integer Overflow / Underflow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90FF"/>
                </a:solidFill>
              </a:defRPr>
            </a:pPr>
            <a:r>
              <a:t>Static + ML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5603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SWC-115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5603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tx.origin Authorization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5603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High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5603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90FF"/>
                </a:solidFill>
              </a:defRPr>
            </a:pPr>
            <a:r>
              <a:t>Static + Taint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9260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SWC-104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03120" y="29260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Unchecked Call Return Value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926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High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0" y="29260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90FF"/>
                </a:solidFill>
              </a:defRPr>
            </a:pPr>
            <a:r>
              <a:t>Static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2918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SWC-105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03120" y="32918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Unprotected Ether Withdrawal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29184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4757"/>
                </a:solidFill>
              </a:defRPr>
            </a:pPr>
            <a:r>
              <a:rPr lang="en-IN" dirty="0"/>
              <a:t>Extreme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04672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90FF"/>
                </a:solidFill>
              </a:defRPr>
            </a:pPr>
            <a:r>
              <a:t>Static + CFG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6576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SWC-106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03120" y="36576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Unprotected SELFDESTRUCT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3657600"/>
            <a:ext cx="13716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4757"/>
                </a:solidFill>
              </a:defRPr>
            </a:pPr>
            <a:r>
              <a:rPr lang="en-IN" dirty="0"/>
              <a:t>Extreme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36576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90FF"/>
                </a:solidFill>
              </a:defRPr>
            </a:pPr>
            <a:r>
              <a:t>Static + Taint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0233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SWC-112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103120" y="40233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Delegatecall to Untrusted Callee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023360"/>
            <a:ext cx="137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4757"/>
                </a:solidFill>
              </a:defRPr>
            </a:pPr>
            <a:r>
              <a:rPr lang="en-IN" dirty="0"/>
              <a:t>Extreme</a:t>
            </a:r>
          </a:p>
          <a:p>
            <a:pPr algn="l">
              <a:defRPr sz="1100" b="1">
                <a:solidFill>
                  <a:srgbClr val="FF4757"/>
                </a:solidFill>
              </a:defRPr>
            </a:pPr>
            <a:endParaRPr dirty="0"/>
          </a:p>
        </p:txBody>
      </p:sp>
      <p:sp>
        <p:nvSpPr>
          <p:cNvPr id="35" name="TextBox 34"/>
          <p:cNvSpPr txBox="1"/>
          <p:nvPr/>
        </p:nvSpPr>
        <p:spPr>
          <a:xfrm>
            <a:off x="8046720" y="40233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90FF"/>
                </a:solidFill>
              </a:defRPr>
            </a:pPr>
            <a:r>
              <a:t>Static + Taint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38912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SWC-120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103120" y="43891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Weak Randomness (block variables)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43891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35"/>
                </a:solidFill>
              </a:defRPr>
            </a:pPr>
            <a:r>
              <a:t>High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3891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90FF"/>
                </a:solidFill>
              </a:defRPr>
            </a:pPr>
            <a:r>
              <a:t>Static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75488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SWC-103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03120" y="475488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Floating Pragma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47548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90FF"/>
                </a:solidFill>
              </a:defRPr>
            </a:pPr>
            <a:r>
              <a:t>Info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20" y="475488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90FF"/>
                </a:solidFill>
              </a:defRPr>
            </a:pPr>
            <a:r>
              <a:t>Static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12064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SWC-116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103120" y="512064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Timestamp Dependence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512064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2ED573"/>
                </a:solidFill>
              </a:defRPr>
            </a:pPr>
            <a:r>
              <a:t>Low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5120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90FF"/>
                </a:solidFill>
              </a:defRPr>
            </a:pPr>
            <a:r>
              <a:t>Static + ML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48640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GAS-*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103120" y="548640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Gas Optimisation (storage in loops, etc.)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54864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90FF"/>
                </a:solidFill>
              </a:defRPr>
            </a:pPr>
            <a:r>
              <a:t>Info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46720" y="5486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90FF"/>
                </a:solidFill>
              </a:defRPr>
            </a:pPr>
            <a:r>
              <a:t>Gas Analyzer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31520" y="5852160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</a:defRPr>
            </a:pPr>
            <a:r>
              <a:t>TAINT-*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2103120" y="585216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E0E0E0"/>
                </a:solidFill>
              </a:defRPr>
            </a:pPr>
            <a:r>
              <a:t>Tainted Ether Transfer / Delegatecall / Storage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852160"/>
            <a:ext cx="13716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4757"/>
                </a:solidFill>
              </a:defRPr>
            </a:pPr>
            <a:r>
              <a:rPr lang="en-IN" dirty="0"/>
              <a:t>Extreme</a:t>
            </a:r>
          </a:p>
          <a:p>
            <a:pPr algn="l">
              <a:defRPr sz="1100" b="1">
                <a:solidFill>
                  <a:srgbClr val="FF4757"/>
                </a:solidFill>
              </a:defRPr>
            </a:pPr>
            <a:endParaRPr dirty="0"/>
          </a:p>
        </p:txBody>
      </p:sp>
      <p:sp>
        <p:nvSpPr>
          <p:cNvPr id="55" name="TextBox 54"/>
          <p:cNvSpPr txBox="1"/>
          <p:nvPr/>
        </p:nvSpPr>
        <p:spPr>
          <a:xfrm>
            <a:off x="8046720" y="58521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1E90FF"/>
                </a:solidFill>
              </a:defRPr>
            </a:pPr>
            <a:r>
              <a:t>Taint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FFA502"/>
                </a:solidFill>
              </a:defRPr>
            </a:pPr>
            <a:r>
              <a:t>15 static rules + CFG path analysis + taint data-flow + 10 ML classes = most comprehensive open-source Solidity auditor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822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7C5CFF"/>
                </a:solidFill>
              </a:rPr>
              <a:t>Backend: </a:t>
            </a:r>
            <a:r>
              <a:rPr sz="1400">
                <a:solidFill>
                  <a:srgbClr val="E0E0E0"/>
                </a:solidFill>
              </a:rPr>
              <a:t>Python 3.11, FastAPI, Uvicorn, Pydantic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651760"/>
            <a:ext cx="5029200" cy="822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1E90FF"/>
                </a:solidFill>
              </a:rPr>
              <a:t>Frontend: </a:t>
            </a:r>
            <a:r>
              <a:rPr sz="1400">
                <a:solidFill>
                  <a:srgbClr val="E0E0E0"/>
                </a:solidFill>
              </a:rPr>
              <a:t>React 19, Axios, React-Router, Syntax Highlighter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657600"/>
            <a:ext cx="5029200" cy="822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2ED573"/>
                </a:solidFill>
              </a:rPr>
              <a:t>ML / AI: </a:t>
            </a:r>
            <a:r>
              <a:rPr sz="1400">
                <a:solidFill>
                  <a:srgbClr val="E0E0E0"/>
                </a:solidFill>
              </a:rPr>
              <a:t>NumPy, scikit-learn, Joblib (model serialisation)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663440"/>
            <a:ext cx="5029200" cy="822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6B35"/>
                </a:solidFill>
              </a:rPr>
              <a:t>Analysis: </a:t>
            </a:r>
            <a:r>
              <a:rPr sz="1400">
                <a:solidFill>
                  <a:srgbClr val="E0E0E0"/>
                </a:solidFill>
              </a:rPr>
              <a:t>Custom Rule Engine, CFG Builder, Taint Tracker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5029200" cy="822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A502"/>
                </a:solidFill>
              </a:rPr>
              <a:t>Testing: </a:t>
            </a:r>
            <a:r>
              <a:rPr sz="1400">
                <a:solidFill>
                  <a:srgbClr val="E0E0E0"/>
                </a:solidFill>
              </a:rPr>
              <a:t>pytest, FastAPI TestClient, fixture-based suites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651760"/>
            <a:ext cx="5029200" cy="822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4757"/>
                </a:solidFill>
              </a:rPr>
              <a:t>Reports: </a:t>
            </a:r>
            <a:r>
              <a:rPr sz="1400">
                <a:solidFill>
                  <a:srgbClr val="E0E0E0"/>
                </a:solidFill>
              </a:rPr>
              <a:t>Jinja2 HTML templates, JSON, plaintext summaries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3657600"/>
            <a:ext cx="5029200" cy="822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A0A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A0A0B0"/>
                </a:solidFill>
              </a:rPr>
              <a:t>Containerisation: </a:t>
            </a:r>
            <a:r>
              <a:rPr sz="1400">
                <a:solidFill>
                  <a:srgbClr val="E0E0E0"/>
                </a:solidFill>
              </a:rPr>
              <a:t>Docker, Docker Compose (multi-service)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4663440"/>
            <a:ext cx="5029200" cy="822960"/>
          </a:xfrm>
          <a:prstGeom prst="roundRect">
            <a:avLst/>
          </a:prstGeom>
          <a:solidFill>
            <a:srgbClr val="1A1A2E"/>
          </a:solidFill>
          <a:ln w="1905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00D4FF"/>
                </a:solidFill>
              </a:rPr>
              <a:t>Database: </a:t>
            </a:r>
            <a:r>
              <a:rPr sz="1400">
                <a:solidFill>
                  <a:srgbClr val="E0E0E0"/>
                </a:solidFill>
              </a:rPr>
              <a:t>In-memory store (prod: MongoDB + Motor)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Testing &amp; Quality Assurance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D573"/>
                </a:solidFill>
              </a:defRPr>
            </a:pPr>
            <a:r>
              <a:t>test_static_analyzer.py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50876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0E0"/>
                </a:solidFill>
              </a:defRPr>
            </a:pPr>
            <a:r>
              <a:t>10 tests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0" y="1508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B0"/>
                </a:solidFill>
              </a:defRPr>
            </a:pPr>
            <a:r>
              <a:t>Detects reentrancy, tx.origin, selfdestruct, overflow, randomness;</a:t>
            </a:r>
            <a:br/>
            <a:r>
              <a:t>verifies secure contracts produce fewer findings; field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2140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A502"/>
                </a:solidFill>
              </a:defRPr>
            </a:pPr>
            <a:r>
              <a:t>test_ml_ranker.py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12140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0E0"/>
                </a:solidFill>
              </a:defRPr>
            </a:pPr>
            <a:r>
              <a:t>6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12140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B0"/>
                </a:solidFill>
              </a:defRPr>
            </a:pPr>
            <a:r>
              <a:t>Predictions in [0,1] range; features are numeric;</a:t>
            </a:r>
            <a:br/>
            <a:r>
              <a:t>secure contracts score lower than vulnerable ones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3405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0D4FF"/>
                </a:solidFill>
              </a:defRPr>
            </a:pPr>
            <a:r>
              <a:t>test_explainability.py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73405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0E0"/>
                </a:solidFill>
              </a:defRPr>
            </a:pPr>
            <a:r>
              <a:t>3 tests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0" y="273405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B0"/>
                </a:solidFill>
              </a:defRPr>
            </a:pPr>
            <a:r>
              <a:t>All findings get explanations with required fields;</a:t>
            </a:r>
            <a:br/>
            <a:r>
              <a:t>edge case for empty input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3467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7C5CFF"/>
                </a:solidFill>
              </a:defRPr>
            </a:pPr>
            <a:r>
              <a:t>test_api.py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3346704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0E0"/>
                </a:solidFill>
              </a:defRPr>
            </a:pPr>
            <a:r>
              <a:t>6 tests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0" y="3346704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B0"/>
                </a:solidFill>
              </a:defRPr>
            </a:pPr>
            <a:r>
              <a:t>Health endpoint, JSON analysis, form-data analysis,</a:t>
            </a:r>
            <a:br/>
            <a:r>
              <a:t>batch uploads, report retrieval, missing-input handling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3959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90FF"/>
                </a:solidFill>
              </a:defRPr>
            </a:pPr>
            <a:r>
              <a:t>test_gas_analyzer.py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08960" y="3959352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0E0"/>
                </a:solidFill>
              </a:defRPr>
            </a:pPr>
            <a:r>
              <a:t>5 tests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3959352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B0"/>
                </a:solidFill>
              </a:defRPr>
            </a:pPr>
            <a:r>
              <a:t>Gas optimisation detection; efficiency score range;</a:t>
            </a:r>
            <a:br/>
            <a:r>
              <a:t>finding field completeness; empty-code edge case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5720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4757"/>
                </a:solidFill>
              </a:defRPr>
            </a:pPr>
            <a:r>
              <a:t>test_edge_cases.py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457200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0E0"/>
                </a:solidFill>
              </a:defRPr>
            </a:pPr>
            <a:r>
              <a:t>6+ tests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B0"/>
                </a:solidFill>
              </a:defRPr>
            </a:pPr>
            <a:r>
              <a:t>Multiline contracts, Solidity ≥0.8 skips overflow,</a:t>
            </a:r>
            <a:br/>
            <a:r>
              <a:t>state-update-before-call not flagged as reentrancy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51846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0A0B0"/>
                </a:solidFill>
              </a:defRPr>
            </a:pPr>
            <a:r>
              <a:t>test_store.py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5184648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0E0"/>
                </a:solidFill>
              </a:defRPr>
            </a:pPr>
            <a:r>
              <a:t>4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4800" y="5184648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B0"/>
                </a:solidFill>
              </a:defRPr>
            </a:pPr>
            <a:r>
              <a:t>Save, retrieve, list, delete operations on analysis 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79729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6B35"/>
                </a:solidFill>
              </a:defRPr>
            </a:pPr>
            <a:r>
              <a:t>conftest.py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08960" y="5797296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0E0E0"/>
                </a:solidFill>
              </a:defRPr>
            </a:pPr>
            <a:r>
              <a:t>Fixtures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0" y="5797296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A0A0B0"/>
                </a:solidFill>
              </a:defRPr>
            </a:pPr>
            <a:r>
              <a:t>Shared VulnerableBank, SecureBank, GasWaster contract fixtures</a:t>
            </a:r>
            <a:br/>
            <a:r>
              <a:t>reused across all test modules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ED573"/>
                </a:solidFill>
              </a:defRPr>
            </a:pPr>
            <a:r>
              <a:t>40+ unit &amp; integration tests  |  Fixture-based test architecture  |  pytest framework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Explainability &amp; Actionable Reporting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5448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4757"/>
                </a:solidFill>
              </a:defRPr>
            </a:pPr>
            <a:r>
              <a:t>Attack Scenario Narratives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Every finding includes a step-by-step attack scenario explaining how an adversary could exploit the vulnerability in a real-world setting.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35"/>
                </a:solidFill>
              </a:defRPr>
            </a:pPr>
            <a:r>
              <a:t>Evidence &amp; Code Context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88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Pinpoints the exact line, matched pattern, surrounding code, and affected functions. Developers see precisely where the issue lives.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2900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47472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ED573"/>
                </a:solidFill>
              </a:defRPr>
            </a:pPr>
            <a:r>
              <a:t>Fix Examples (Before → After)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74904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Side-by-side vulnerable vs. secure code snippets showing the recommended remediation pattern (e.g., Checks-Effects-Interactions for reentrancy).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1E9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443484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90FF"/>
                </a:solidFill>
              </a:defRPr>
            </a:pPr>
            <a:r>
              <a:t>SWC Registry &amp; Best Practice References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70916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Each finding links to the official SWC Registry entry and references OpenZeppelin libraries for battle-tested mitigations.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349240"/>
            <a:ext cx="1051560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097280" y="5394960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C5CFF"/>
                </a:solidFill>
              </a:defRPr>
            </a:pPr>
            <a:r>
              <a:t>Multi-Format Export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566928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</a:defRPr>
            </a:pPr>
            <a:r>
              <a:t>HTML reports with severity dashboards, JSON for CI/CD integration, plain-text summaries for terminal workflows.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Live Demo Walkthrough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▸  </a:t>
            </a:r>
            <a:r>
              <a:rPr sz="1500">
                <a:solidFill>
                  <a:srgbClr val="E0E0E0"/>
                </a:solidFill>
              </a:rPr>
              <a:t>1.  Upload VulnerableBank.sol via the React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▸  </a:t>
            </a:r>
            <a:r>
              <a:rPr sz="1500">
                <a:solidFill>
                  <a:srgbClr val="E0E0E0"/>
                </a:solidFill>
              </a:rPr>
              <a:t>2.  Observe multi-layer scanning: Static → CFG → Taint → ML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▸  </a:t>
            </a:r>
            <a:r>
              <a:rPr sz="1500">
                <a:solidFill>
                  <a:srgbClr val="E0E0E0"/>
                </a:solidFill>
              </a:rPr>
              <a:t>3.  View risk dashboard with severity breakdown (Critical / High / Medium / Low / Info)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▸  </a:t>
            </a:r>
            <a:r>
              <a:rPr sz="1500">
                <a:solidFill>
                  <a:srgbClr val="E0E0E0"/>
                </a:solidFill>
              </a:rPr>
              <a:t>4.  Expand each finding: attack scenario, evidence, fix example, SWC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▸  </a:t>
            </a:r>
            <a:r>
              <a:rPr sz="1500">
                <a:solidFill>
                  <a:srgbClr val="E0E0E0"/>
                </a:solidFill>
              </a:rPr>
              <a:t>5.  Compare: Upload SecureBank.sol — shows significantly fewer or zero findings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▸  </a:t>
            </a:r>
            <a:r>
              <a:rPr sz="1500">
                <a:solidFill>
                  <a:srgbClr val="E0E0E0"/>
                </a:solidFill>
              </a:rPr>
              <a:t>6.  CLI demo: python auditor.py VulnerableToken.sol -f html -o report.html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▸  </a:t>
            </a:r>
            <a:r>
              <a:rPr sz="1500">
                <a:solidFill>
                  <a:srgbClr val="E0E0E0"/>
                </a:solidFill>
              </a:rPr>
              <a:t>7.  API demo: POST /analyze/json with curl — inspect JSON response structure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00D4FF"/>
                </a:solidFill>
              </a:rPr>
              <a:t>  ▸  </a:t>
            </a:r>
            <a:r>
              <a:rPr sz="1500">
                <a:solidFill>
                  <a:srgbClr val="E0E0E0"/>
                </a:solidFill>
              </a:rPr>
              <a:t>8.  Run pytest test suite — show all 40+ tests passing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</a:defRPr>
            </a:pPr>
            <a:r>
              <a:t>Backend:  uvicorn app.main:app --reload    |    Frontend:  npm start    |    Tests:  pytest -v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Project Completion Status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150876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Static Analysis Module (15 SWC rules)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0" y="1581912"/>
            <a:ext cx="2286000" cy="20116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686800" y="1581912"/>
            <a:ext cx="2286000" cy="201168"/>
          </a:xfrm>
          <a:prstGeom prst="round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064240" y="150876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0195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ML Feature Extraction &amp; Classification (20 features, 10 classes)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686800" y="1975104"/>
            <a:ext cx="2286000" cy="20116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8686800" y="1975104"/>
            <a:ext cx="2286000" cy="201168"/>
          </a:xfrm>
          <a:prstGeom prst="round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064240" y="190195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2295144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Explainability Engine (attack scenarios, fix examples)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686800" y="2368296"/>
            <a:ext cx="2286000" cy="20116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8686800" y="2368296"/>
            <a:ext cx="2286000" cy="201168"/>
          </a:xfrm>
          <a:prstGeom prst="round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064240" y="229514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268833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FastAPI REST API (6 endpoints, CORS-enabled)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2761488"/>
            <a:ext cx="2286000" cy="20116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8686800" y="2761488"/>
            <a:ext cx="2286000" cy="201168"/>
          </a:xfrm>
          <a:prstGeom prst="round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064240" y="268833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308152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React Frontend (dark-theme dashboard, expandable findings)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3154680"/>
            <a:ext cx="2286000" cy="20116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686800" y="3154680"/>
            <a:ext cx="2286000" cy="201168"/>
          </a:xfrm>
          <a:prstGeom prst="round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1064240" y="308152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47472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CLI Tool (single + batch, multi-format output)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686800" y="3547872"/>
            <a:ext cx="2286000" cy="20116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8686800" y="3547872"/>
            <a:ext cx="2286000" cy="201168"/>
          </a:xfrm>
          <a:prstGeom prst="round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11064240" y="347472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86791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Control-Flow Graph Analyzer (path-sensitive detection)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686800" y="3941064"/>
            <a:ext cx="2286000" cy="20116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686800" y="3941064"/>
            <a:ext cx="2286000" cy="201168"/>
          </a:xfrm>
          <a:prstGeom prst="round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1064240" y="386791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4261104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Taint Propagation Engine (source-to-sink tracking)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86800" y="4334256"/>
            <a:ext cx="2286000" cy="20116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8686800" y="4334256"/>
            <a:ext cx="2286000" cy="201168"/>
          </a:xfrm>
          <a:prstGeom prst="round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11064240" y="4261104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4654296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Gas Optimisation Analyzer (efficiency scoring)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686800" y="4727448"/>
            <a:ext cx="2286000" cy="20116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8686800" y="4727448"/>
            <a:ext cx="2286000" cy="201168"/>
          </a:xfrm>
          <a:prstGeom prst="round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11064240" y="4654296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5047488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Comprehensive Test Suite (40+ tests, 8 modules)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686800" y="5120640"/>
            <a:ext cx="2286000" cy="20116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686800" y="5120640"/>
            <a:ext cx="2286000" cy="201168"/>
          </a:xfrm>
          <a:prstGeom prst="round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11064240" y="50474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440680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Docker Containerisation (multi-service compose)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686800" y="5513832"/>
            <a:ext cx="2286000" cy="20116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8686800" y="5513832"/>
            <a:ext cx="2286000" cy="201168"/>
          </a:xfrm>
          <a:prstGeom prst="round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064240" y="54406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31520" y="5833872"/>
            <a:ext cx="7772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0E0E0"/>
                </a:solidFill>
              </a:defRPr>
            </a:pPr>
            <a:r>
              <a:t>HTML / JSON / Text Report Generation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686800" y="5907024"/>
            <a:ext cx="2286000" cy="201168"/>
          </a:xfrm>
          <a:prstGeom prst="round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8686800" y="5907024"/>
            <a:ext cx="2286000" cy="201168"/>
          </a:xfrm>
          <a:prstGeom prst="roundRect">
            <a:avLst/>
          </a:prstGeom>
          <a:solidFill>
            <a:srgbClr val="2ED57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1064240" y="583387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D573"/>
                </a:solidFill>
              </a:defRPr>
            </a:pPr>
            <a:r>
              <a:t>100%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57200" y="6309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ED573"/>
                </a:solidFill>
              </a:defRPr>
            </a:pPr>
            <a:r>
              <a:t>All Planned Modules Completed — 100% Project Delivery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Key Contributions &amp; Technical Novelty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515600" cy="100584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97280" y="156362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D4FF"/>
                </a:solidFill>
              </a:defRPr>
            </a:pPr>
            <a:r>
              <a:t>Multi-Layer Hybrid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82880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Unlike tools that rely on a single technique, our auditor orchestrates four independent analysis layers (static rules, CFG, taint, ML) and merges their outputs via a weighted confidence fusion algorithm — catching vulnerabilities that any single layer would miss.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697480"/>
            <a:ext cx="10515600" cy="100584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97280" y="275234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D573"/>
                </a:solidFill>
              </a:defRPr>
            </a:pPr>
            <a:r>
              <a:t>Path-Sensitive + Data-Flow Aware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The CFG analyzer performs path-sensitive checks (e.g., external call before state update on the same execution path), while the taint engine tracks untrusted data across assignments and function boundaries — going beyond simple regex matching.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886200"/>
            <a:ext cx="10515600" cy="100584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FFA50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97280" y="394106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FA502"/>
                </a:solidFill>
              </a:defRPr>
            </a:pPr>
            <a:r>
              <a:t>Explainable AI for Smart Contract Security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420624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Every finding is enriched with a human-readable attack narrative, before/after code snippets, and authoritative SWC references — making the tool accessible to developers who are not security experts.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074920"/>
            <a:ext cx="10515600" cy="1005840"/>
          </a:xfrm>
          <a:prstGeom prst="roundRect">
            <a:avLst/>
          </a:prstGeom>
          <a:solidFill>
            <a:srgbClr val="1A1A2E"/>
          </a:solidFill>
          <a:ln w="25400">
            <a:solidFill>
              <a:srgbClr val="7C5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97280" y="5129784"/>
            <a:ext cx="9601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C5CFF"/>
                </a:solidFill>
              </a:defRPr>
            </a:pPr>
            <a:r>
              <a:t>Full-Stack Open Auditing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3949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E0E0E0"/>
                </a:solidFill>
              </a:defRPr>
            </a:pPr>
            <a:r>
              <a:t>End-to-end solution spanning a REST API, web dashboard, and CLI — enabling integration into CI/CD pipelines, one-click browser audits, and automated batch scanning.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00D4FF"/>
                </a:solidFill>
              </a:defRPr>
            </a:pPr>
            <a:r>
              <a:t>Future Scope &amp; Enhancements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2743200" cy="38100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4FF"/>
                </a:solidFill>
              </a:rPr>
              <a:t>  ▸  </a:t>
            </a:r>
            <a:r>
              <a:rPr sz="1400">
                <a:solidFill>
                  <a:srgbClr val="E0E0E0"/>
                </a:solidFill>
              </a:rPr>
              <a:t>Integrate symbolic execution engines (Mythril / Manticore) for formal verification of critical paths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4FF"/>
                </a:solidFill>
              </a:rPr>
              <a:t>  ▸  </a:t>
            </a:r>
            <a:r>
              <a:rPr sz="1400">
                <a:solidFill>
                  <a:srgbClr val="E0E0E0"/>
                </a:solidFill>
              </a:rPr>
              <a:t>Train deep-learning models (GNN on AST graphs) on the SmartBugs benchmark with cross-validation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560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4FF"/>
                </a:solidFill>
              </a:rPr>
              <a:t>  ▸  </a:t>
            </a:r>
            <a:r>
              <a:rPr sz="1400">
                <a:solidFill>
                  <a:srgbClr val="E0E0E0"/>
                </a:solidFill>
              </a:rPr>
              <a:t>Add SHAP / LIME for post-hoc ML model explainability and feature attribution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4FF"/>
                </a:solidFill>
              </a:rPr>
              <a:t>  ▸  </a:t>
            </a:r>
            <a:r>
              <a:rPr sz="1400">
                <a:solidFill>
                  <a:srgbClr val="E0E0E0"/>
                </a:solidFill>
              </a:rPr>
              <a:t>PDF report export with professional layout and executive summary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4747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4FF"/>
                </a:solidFill>
              </a:rPr>
              <a:t>  ▸  </a:t>
            </a:r>
            <a:r>
              <a:rPr sz="1400">
                <a:solidFill>
                  <a:srgbClr val="E0E0E0"/>
                </a:solidFill>
              </a:rPr>
              <a:t>MongoDB persistence layer for long-term analysis history and trend tracking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9319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4FF"/>
                </a:solidFill>
              </a:rPr>
              <a:t>  ▸  </a:t>
            </a:r>
            <a:r>
              <a:rPr sz="1400">
                <a:solidFill>
                  <a:srgbClr val="E0E0E0"/>
                </a:solidFill>
              </a:rPr>
              <a:t>GitHub repository URL scanning — clone, extract .sol files, audit in one click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3891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4FF"/>
                </a:solidFill>
              </a:rPr>
              <a:t>  ▸  </a:t>
            </a:r>
            <a:r>
              <a:rPr sz="1400">
                <a:solidFill>
                  <a:srgbClr val="E0E0E0"/>
                </a:solidFill>
              </a:rPr>
              <a:t>Quantitative benchmarking: precision / recall / F1 against Slither and Mythril on labelled datasets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846320"/>
            <a:ext cx="9601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D4FF"/>
                </a:solidFill>
              </a:rPr>
              <a:t>  ▸  </a:t>
            </a:r>
            <a:r>
              <a:rPr sz="1400">
                <a:solidFill>
                  <a:srgbClr val="E0E0E0"/>
                </a:solidFill>
              </a:rPr>
              <a:t>VS Code extension for inline vulnerability warnings during development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0F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1097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600" b="1">
                <a:solidFill>
                  <a:srgbClr val="00D4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E0E0"/>
                </a:solidFill>
              </a:defRPr>
            </a:pPr>
            <a:r>
              <a:t>Smart Contract Auditor — Multi-Layer AI Security for Blockchain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1089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◆  </a:t>
            </a:r>
            <a:r>
              <a:rPr sz="1500">
                <a:solidFill>
                  <a:srgbClr val="A0A0B0"/>
                </a:solidFill>
              </a:rPr>
              <a:t>Four-layer hybrid analysis: Static Rules + CFG + Taint Propagation + ML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52044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◆  </a:t>
            </a:r>
            <a:r>
              <a:rPr sz="1500">
                <a:solidFill>
                  <a:srgbClr val="A0A0B0"/>
                </a:solidFill>
              </a:rPr>
              <a:t>15 SWC detectors, 10 ML vulnerability classes, 20 extracted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93192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◆  </a:t>
            </a:r>
            <a:r>
              <a:rPr sz="1500">
                <a:solidFill>
                  <a:srgbClr val="A0A0B0"/>
                </a:solidFill>
              </a:rPr>
              <a:t>Path-sensitive &amp; data-flow-aware detection beyond simple pattern matching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434340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◆  </a:t>
            </a:r>
            <a:r>
              <a:rPr sz="1500">
                <a:solidFill>
                  <a:srgbClr val="A0A0B0"/>
                </a:solidFill>
              </a:rPr>
              <a:t>Explainable findings with attack narratives, fix examples, and SWC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475488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◆  </a:t>
            </a:r>
            <a:r>
              <a:rPr sz="1500">
                <a:solidFill>
                  <a:srgbClr val="A0A0B0"/>
                </a:solidFill>
              </a:rPr>
              <a:t>Full-stack platform: FastAPI + React + CLI + Docker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5166360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D4FF"/>
                </a:solidFill>
              </a:rPr>
              <a:t>◆  </a:t>
            </a:r>
            <a:r>
              <a:rPr sz="1500">
                <a:solidFill>
                  <a:srgbClr val="A0A0B0"/>
                </a:solidFill>
              </a:rPr>
              <a:t>40+ automated tests across 8 test modules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2237</Words>
  <Application>Microsoft Office PowerPoint</Application>
  <PresentationFormat>Custom</PresentationFormat>
  <Paragraphs>280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MANYAM HARISH SRI SAI PAVAN</cp:lastModifiedBy>
  <cp:revision>2</cp:revision>
  <dcterms:created xsi:type="dcterms:W3CDTF">2013-01-27T09:14:16Z</dcterms:created>
  <dcterms:modified xsi:type="dcterms:W3CDTF">2026-03-27T09:51:22Z</dcterms:modified>
  <cp:category/>
</cp:coreProperties>
</file>